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Segoe UI"/>
              </a:rPr>
              <a:t>StudiBudd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5029200" cy="64008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0BEC5"/>
                </a:solidFill>
                <a:latin typeface="Segoe UI"/>
              </a:rPr>
              <a:t>Gamified Academic Productivity for the Modern College Student</a:t>
            </a:r>
          </a:p>
        </p:txBody>
      </p:sp>
      <p:sp>
        <p:nvSpPr>
          <p:cNvPr id="9" name="Oval 8"/>
          <p:cNvSpPr/>
          <p:nvPr/>
        </p:nvSpPr>
        <p:spPr>
          <a:xfrm>
            <a:off x="10515600" y="182880"/>
            <a:ext cx="2286000" cy="2286000"/>
          </a:xfrm>
          <a:prstGeom prst="ellipse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182880"/>
            <a:ext cx="1554480" cy="1554480"/>
          </a:xfrm>
          <a:prstGeom prst="ellipse">
            <a:avLst/>
          </a:prstGeom>
          <a:solidFill>
            <a:srgbClr val="1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182880"/>
            <a:ext cx="914400" cy="914400"/>
          </a:xfrm>
          <a:prstGeom prst="ellipse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08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Segoe UI"/>
              </a:rPr>
              <a:t>Entrepreneurial Management  |  University of New Haven  |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CURIOSITY  |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C5"/>
                </a:solidFill>
                <a:latin typeface="Segoe UI"/>
              </a:rPr>
              <a:t>Students are overwhelmed — and their tools aren't built for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45720" cy="128016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AC9FF"/>
                </a:solidFill>
                <a:latin typeface="Segoe UI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of college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Report constant academic stress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3756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45720" cy="12801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4728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FF"/>
                </a:solidFill>
                <a:latin typeface="Segoe UI"/>
              </a:rPr>
              <a:t>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95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separate apps avg.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Apps used to manage coursework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754880"/>
            <a:ext cx="2834640" cy="12801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45720" cy="12801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6460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5C5C"/>
                </a:solidFill>
                <a:latin typeface="Segoe UI"/>
              </a:rPr>
              <a:t>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13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of students (ACHA 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Feel so depressed it's hard to focus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1920240"/>
            <a:ext cx="8229600" cy="429768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1920240"/>
            <a:ext cx="8229600" cy="4572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2011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C9FF"/>
                </a:solidFill>
                <a:latin typeface="Segoe UI"/>
              </a:rPr>
              <a:t>The Gap in the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2715768"/>
            <a:ext cx="91440" cy="914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1" y="2606040"/>
            <a:ext cx="7607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Notion / Google Calendar  -  Generic; built for professionals, not students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3172968"/>
            <a:ext cx="91440" cy="914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1" y="3063240"/>
            <a:ext cx="7607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Canvas LMS  -  Assignment tracking only; no motivation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630168"/>
            <a:ext cx="91440" cy="914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631" y="3520440"/>
            <a:ext cx="7607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Forest / Focus apps  -  Motivation only; no academic organization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4087368"/>
            <a:ext cx="91440" cy="914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1" y="3977639"/>
            <a:ext cx="7607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MyStudyLife  -  Manual entry only; no LMS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4663440"/>
            <a:ext cx="7772400" cy="27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4773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Segoe UI"/>
              </a:rPr>
              <a:t>The Insight: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77316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Students don't just need a task list — they need a reason to open the app every single day. Habit formation requires emotional engagement, not just functionality.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BEC5"/>
                </a:solidFill>
                <a:latin typeface="Segoe UI"/>
              </a:rPr>
              <a:t>Sources: ¹40% &amp; 44% — ACHA-NCHA Spring 2023 Reference Group Executive Summary (N=54,497)  |  ¹5+ apps — internal survey of 42 UNH students, 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CURIOSITY  |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Market Research &amp; Sizing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C5"/>
                </a:solidFill>
                <a:latin typeface="Segoe UI"/>
              </a:rPr>
              <a:t>Extensive data-driven research with validated assumptions.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657600" cy="64008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C9FF"/>
                </a:solidFill>
                <a:latin typeface="Segoe UI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871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$5.2B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Total Addressable Market
20M US college students
EdTech productivity (12% CAGR)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92024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6576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FF"/>
                </a:solidFill>
                <a:latin typeface="Segoe UI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871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546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Serviceable Addressable Market
Students using digital study tools
At 4-year universities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92024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657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Segoe UI"/>
              </a:rPr>
              <a:t>SOM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871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75K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15468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Serviceable Obtainable Market
Target users by Year 3
Entry via UNH + CT/NY schools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63440"/>
            <a:ext cx="11430000" cy="192024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C9FF"/>
                </a:solidFill>
                <a:latin typeface="Segoe UI"/>
              </a:rPr>
              <a:t>Validated Assumptions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74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  <a:latin typeface="Segoe UI"/>
              </a:rPr>
              <a:t>Assumption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074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  <a:latin typeface="Segoe UI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  <a:latin typeface="Segoe U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$4.99/mo price point acceptable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3766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Spotify Student: $5.99/mo (spotify.com/us/student)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376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509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Students check planner apps daily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6509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Forest: 10M+ DAU (App Store, 2024); habit loop lit.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56509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253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Canvas at 30%+ of US universities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925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Instructure 2023 Annual Report, p.4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9253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99631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Universities spend $1.2B on EdTech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619963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HolonIQ Global EdTech Intelligence Report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1996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BEC5"/>
                </a:solidFill>
                <a:latin typeface="Segoe UI"/>
              </a:rPr>
              <a:t>Sources: ¹NCES Digest of Education Statistics 2023 (20M students)  |  ²Grand View Research EdTech Market Report 2024 ($5.2B / 12% CAGR)  |  ³Instructure 2023 Annual Report  |  ⁴HolonIQ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CURIOSITY  |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Business Model Canvas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" y="15087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760"/>
            <a:ext cx="219456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6362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FF"/>
                </a:solidFill>
                <a:latin typeface="Segoe UI"/>
              </a:rPr>
              <a:t>KEY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01368"/>
            <a:ext cx="2057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University IT depts
Canvas / Instructure
Vercel + Supabase
App stores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1508760"/>
            <a:ext cx="2194560" cy="10515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4A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96312" y="1508760"/>
            <a:ext cx="2194560" cy="4572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156362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C9FF"/>
                </a:solidFill>
                <a:latin typeface="Segoe UI"/>
              </a:rPr>
              <a:t>KEY 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1801368"/>
            <a:ext cx="20574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App dev &amp; maintenance
Campus ambassador mgmt
University sales cycle
Feature iteration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15087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4024" y="1508760"/>
            <a:ext cx="26517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5464" y="156362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Segoe UI"/>
              </a:rPr>
              <a:t>VALUE PROPOSITIONS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5464" y="1801368"/>
            <a:ext cx="2514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One app replaces 5
Real Canvas sync — no manual entry
Creature gamification loop
Customizable aesthetic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1508760"/>
            <a:ext cx="2194560" cy="10515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88936" y="1508760"/>
            <a:ext cx="219456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5" y="156362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FF"/>
                </a:solidFill>
                <a:latin typeface="Segoe UI"/>
              </a:rPr>
              <a:t>CUSTOMER REL.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5" y="1801368"/>
            <a:ext cx="20574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Gamification &amp; streaks
Achievement badges
Email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15087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4A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8" y="1508760"/>
            <a:ext cx="2194560" cy="4572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156362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C9FF"/>
                </a:solidFill>
                <a:latin typeface="Segoe UI"/>
              </a:rPr>
              <a:t>CUSTOMER SEGMENTS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1801368"/>
            <a:ext cx="2057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PRIMARY:
College students 18-24
SECONDARY:
Universities (B2B2C)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6312" y="2633472"/>
            <a:ext cx="2194560" cy="1069848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4A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96312" y="2633472"/>
            <a:ext cx="2194560" cy="4572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268833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C9FF"/>
                </a:solidFill>
                <a:latin typeface="Segoe UI"/>
              </a:rPr>
              <a:t>KEY RESOURCES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7752" y="2926079"/>
            <a:ext cx="2057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Next.js codebase
Canvas API integration
Team expertise
User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88936" y="2633472"/>
            <a:ext cx="2194560" cy="1069848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88936" y="2633472"/>
            <a:ext cx="219456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0375" y="268833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FF"/>
                </a:solidFill>
                <a:latin typeface="Segoe UI"/>
              </a:rPr>
              <a:t>CUSTOMER REL. (2)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0375" y="2926079"/>
            <a:ext cx="2057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Campus ambassadors
Professor endorsements
Word of mouth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3776472"/>
            <a:ext cx="5760720" cy="109728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776472"/>
            <a:ext cx="576072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831335"/>
            <a:ext cx="56235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5C5C"/>
                </a:solidFill>
                <a:latin typeface="Segoe UI"/>
              </a:rPr>
              <a:t>COST 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069080"/>
            <a:ext cx="56235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Hosting: $540/yr  |  Domain/tools: $212/yr  |  Marketing: $500/yr (Y1)  |  Dev (opp. cost): $10,000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62472" y="3776472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62472" y="3776472"/>
            <a:ext cx="58521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53912" y="3831335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CC71"/>
                </a:solidFill>
                <a:latin typeface="Segoe UI"/>
              </a:rPr>
              <a:t>REVENUE STREAMS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3912" y="4069080"/>
            <a:ext cx="5715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Freemium: $4.99/mo premium  |  University licensing: $2,000-5,000/yr per institution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983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AC9FF"/>
                </a:solidFill>
                <a:latin typeface="Segoe UI"/>
              </a:rPr>
              <a:t>The Canvas integration is not just a feature — it is where every business module converges.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CONNECTIONS  |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Cost &amp; Revenue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C5"/>
                </a:solidFill>
                <a:latin typeface="Segoe UI"/>
              </a:rPr>
              <a:t>Lean cost structure — high-margin, cloud-native business.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7132320" cy="43891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7132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56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Segoe UI"/>
              </a:rPr>
              <a:t>Revenue 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59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Year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35915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Year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591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Year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97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Premium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97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97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1,200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Premium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272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$11,976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1272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$29,940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27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$71,856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57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University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570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5570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557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86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University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98678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$2,000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98678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$6,000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986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$16,000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16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4165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4165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4165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800600"/>
            <a:ext cx="7040880" cy="384048"/>
          </a:xfrm>
          <a:prstGeom prst="rect">
            <a:avLst/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846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TOTAL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8463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$13,976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8463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$35,940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846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$87,856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76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Operating Costs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2760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($1,252)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52760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($2,452)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276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($4,492)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660136"/>
            <a:ext cx="7040880" cy="384048"/>
          </a:xfrm>
          <a:prstGeom prst="rect">
            <a:avLst/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705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NET CASH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70585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$12,724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570585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$33,488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058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$83,364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1874519"/>
            <a:ext cx="4023360" cy="43891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18120" y="1874519"/>
            <a:ext cx="402336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19568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C5C"/>
                </a:solidFill>
                <a:latin typeface="Segoe UI"/>
              </a:rPr>
              <a:t>Cost Structure (Year 1)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2423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Hosting (Vercel + Supabase)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2423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C9FF"/>
                </a:solidFill>
                <a:latin typeface="Segoe UI"/>
              </a:rPr>
              <a:t>$540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73568" y="2898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Domain &amp; misc tools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2898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C9FF"/>
                </a:solidFill>
                <a:latin typeface="Segoe UI"/>
              </a:rPr>
              <a:t>$212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73568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Marketing &amp; campus outreach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33741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C9FF"/>
                </a:solidFill>
                <a:latin typeface="Segoe UI"/>
              </a:rPr>
              <a:t>$500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73568" y="38496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Customer support tools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38496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C9FF"/>
                </a:solidFill>
                <a:latin typeface="Segoe UI"/>
              </a:rPr>
              <a:t>$0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45552" y="4288536"/>
            <a:ext cx="3977639" cy="402336"/>
          </a:xfrm>
          <a:prstGeom prst="rect">
            <a:avLst/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3568" y="43251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TOTAL OPERATING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4325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5C5C"/>
                </a:solidFill>
                <a:latin typeface="Segoe UI"/>
              </a:rPr>
              <a:t>$1,252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73568" y="4800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48006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C9FF"/>
                </a:solidFill>
                <a:latin typeface="Segoe U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7845552" y="5239512"/>
            <a:ext cx="3977639" cy="402336"/>
          </a:xfrm>
          <a:prstGeom prst="rect">
            <a:avLst/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73568" y="52760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Initial Investment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5276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5C5C"/>
                </a:solidFill>
                <a:latin typeface="Segoe UI"/>
              </a:rPr>
              <a:t>$10,000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73568" y="57515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(dev time + setup)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49840" y="57515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C9FF"/>
                </a:solidFill>
                <a:latin typeface="Segoe U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BEC5"/>
                </a:solidFill>
                <a:latin typeface="Segoe UI"/>
              </a:rPr>
              <a:t>Note: All figures are internal projections. Hosting costs from Vercel/Supabase pricing pages (2026). User growth assumptions based on comparable EdTech freemium benchmarks (Duolingo S-1: 4-8% free-to-paid conversion). University pricing benchmarked against Canvas LTI app market ($1K-$10K/yr). Initial investment = ~400 dev hrs × $25/hr opportunity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CONNECTIONS  |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C5"/>
                </a:solidFill>
                <a:latin typeface="Segoe UI"/>
              </a:rPr>
              <a:t>NPV  |  IRR  |  Payback Period — all metrics confirm viability.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45720" cy="1508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CC71"/>
                </a:solidFill>
                <a:latin typeface="Segoe UI"/>
              </a:rPr>
              <a:t>$91,845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NPV — well above 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Net Present Value (10% discount)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920240"/>
            <a:ext cx="3520440" cy="15087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1920240"/>
            <a:ext cx="45720" cy="150876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0299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AC9FF"/>
                </a:solidFill>
                <a:latin typeface="Segoe UI"/>
              </a:rPr>
              <a:t>254%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5786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IRR — vs 10% hurdle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260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Internal Rate of Return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920240"/>
            <a:ext cx="4114800" cy="15087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920240"/>
            <a:ext cx="45720" cy="1508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029968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700"/>
                </a:solidFill>
                <a:latin typeface="Segoe UI"/>
              </a:rPr>
              <a:t>~10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5786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Payback within Year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926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Investment Payback Period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11880"/>
            <a:ext cx="11430000" cy="265176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11880"/>
            <a:ext cx="114300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85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FF"/>
                </a:solidFill>
                <a:latin typeface="Segoe UI"/>
              </a:rPr>
              <a:t>Discounted Cash Flow Analysis  (Discount Rate: 10%)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965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0965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Net Cash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0965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Discount Factor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09651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Present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096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Cumulative PV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43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0 (Investment)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4439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-$10,000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439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439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-$10,000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443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-$10,000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8828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8828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$12,724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8828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0.909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828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$11,567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8828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$1,567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3218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$33,488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3218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0.826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321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$27,676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3218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Segoe UI"/>
              </a:rPr>
              <a:t>$29,243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724144"/>
            <a:ext cx="11338560" cy="402336"/>
          </a:xfrm>
          <a:prstGeom prst="rect">
            <a:avLst/>
          </a:prstGeom>
          <a:solidFill>
            <a:srgbClr val="1E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7607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5760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  <a:latin typeface="Segoe UI"/>
              </a:rPr>
              <a:t>$83,364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760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  <a:latin typeface="Segoe UI"/>
              </a:rPr>
              <a:t>0.751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7607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$62,606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760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$91,849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C9FF"/>
                </a:solidFill>
                <a:latin typeface="Segoe UI"/>
              </a:rPr>
              <a:t>Decision: NPV &gt; 0, IRR &gt;&gt; hurdle rate, Payback &lt; 1 year.  All three criteria independently justify investment.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38251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BEC5"/>
                </a:solidFill>
                <a:latin typeface="Segoe UI"/>
              </a:rPr>
              <a:t>Methodology: NPV = Σ[CFt / (1+r)^t] − I₀  |  IRR solved via =IRR() formula  |  Discount rate 10% = standard VC hurdle (Damodaran, NYU 2024)  |  Cash flows derived from internal revenue model (Slide 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7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CONNECTIONS  |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Integration of EM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C5"/>
                </a:solidFill>
                <a:latin typeface="Segoe UI"/>
              </a:rPr>
              <a:t>Systems thinking — every decision reinforces the others.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74920" y="2697480"/>
            <a:ext cx="2011680" cy="1554480"/>
          </a:xfrm>
          <a:prstGeom prst="ellipse">
            <a:avLst/>
          </a:prstGeom>
          <a:solidFill>
            <a:srgbClr val="4AC9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6974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CANVAS
INTEGRATION
HUB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404872"/>
            <a:ext cx="2103120" cy="704088"/>
          </a:xfrm>
          <a:prstGeom prst="line">
            <a:avLst/>
          </a:prstGeom>
          <a:ln w="27940">
            <a:solidFill>
              <a:srgbClr val="7C3A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27248" y="2633472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01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2633472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FF"/>
                </a:solidFill>
                <a:latin typeface="Segoe UI"/>
              </a:rPr>
              <a:t>drives users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086600" y="2404872"/>
            <a:ext cx="2103120" cy="704088"/>
          </a:xfrm>
          <a:prstGeom prst="line">
            <a:avLst/>
          </a:prstGeom>
          <a:ln w="27940">
            <a:solidFill>
              <a:srgbClr val="2ECC7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96912" y="2633472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2633472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  <a:latin typeface="Segoe UI"/>
              </a:rPr>
              <a:t>enables sync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971800" y="3886200"/>
            <a:ext cx="2103120" cy="1261872"/>
          </a:xfrm>
          <a:prstGeom prst="line">
            <a:avLst/>
          </a:prstGeom>
          <a:ln w="27940">
            <a:solidFill>
              <a:srgbClr val="FFD7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127248" y="4389120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2968" y="438912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00"/>
                </a:solidFill>
                <a:latin typeface="Segoe UI"/>
              </a:rPr>
              <a:t>shapes pricing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7086600" y="3886200"/>
            <a:ext cx="2103120" cy="1261872"/>
          </a:xfrm>
          <a:prstGeom prst="line">
            <a:avLst/>
          </a:prstGeom>
          <a:ln w="27940">
            <a:solidFill>
              <a:srgbClr val="FF5C5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96912" y="4389120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016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438912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5C5C"/>
                </a:solidFill>
                <a:latin typeface="Segoe UI"/>
              </a:rPr>
              <a:t>validates ROI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80760" y="4251960"/>
            <a:ext cx="0" cy="1280160"/>
          </a:xfrm>
          <a:prstGeom prst="line">
            <a:avLst/>
          </a:prstGeom>
          <a:ln w="27940">
            <a:solidFill>
              <a:srgbClr val="FF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17920" y="4946904"/>
            <a:ext cx="1737360" cy="256032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016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946904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000"/>
                </a:solidFill>
                <a:latin typeface="Segoe UI"/>
              </a:rPr>
              <a:t>fuels retention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16916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22860"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1691640"/>
            <a:ext cx="27432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" y="1764792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FF"/>
                </a:solidFill>
                <a:latin typeface="Segoe UI"/>
              </a:rPr>
              <a:t>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" y="2075688"/>
            <a:ext cx="2578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Campus ambassadors
Freemium funnel
Low-cost acquisition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16916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6916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1764792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Segoe U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075688"/>
            <a:ext cx="2578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Cloud-native deploy
API abstraction layer
Canvas sync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" y="44348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228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4434840"/>
            <a:ext cx="27432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4507992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Segoe UI"/>
              </a:rPr>
              <a:t>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4818888"/>
            <a:ext cx="2578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First-mover EdTech
University B2B2C
Canvas as moat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443484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2286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4434840"/>
            <a:ext cx="274320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4507992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Segoe UI"/>
              </a:rPr>
              <a:t>FINANCE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818888"/>
            <a:ext cx="2578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Lean cost structure
High LTV / low CAC
NPV-positive Yr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27448" y="553212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 w="2286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27448" y="5532120"/>
            <a:ext cx="2743200" cy="5486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37176" y="5605272"/>
            <a:ext cx="2578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00"/>
                </a:solidFill>
                <a:latin typeface="Segoe UI"/>
              </a:rPr>
              <a:t>INNOVATION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37176" y="5916168"/>
            <a:ext cx="257860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Gamification loop
AI-ready architecture
Semester refresh</a:t>
            </a:r>
          </a:p>
        </p:txBody>
      </p:sp>
      <p:sp>
        <p:nvSpPr>
          <p:cNvPr id="47" name="Oval 46"/>
          <p:cNvSpPr/>
          <p:nvPr/>
        </p:nvSpPr>
        <p:spPr>
          <a:xfrm>
            <a:off x="5074920" y="2697480"/>
            <a:ext cx="2011680" cy="1554480"/>
          </a:xfrm>
          <a:prstGeom prst="ellipse">
            <a:avLst/>
          </a:prstGeom>
          <a:solidFill>
            <a:srgbClr val="4AC9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28803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CANVAS
INTEGRATION
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AC9FF"/>
                </a:solidFill>
                <a:latin typeface="Segoe UI"/>
              </a:rPr>
              <a:t>Every module connects to the Canvas hub — acquisition, operations, strategy, finance, and innovation all reinforce each 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CREATING VALUE  |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Strategic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C5"/>
                </a:solidFill>
                <a:latin typeface="Segoe UI"/>
              </a:rPr>
              <a:t>University-partnership-led growth — starting at UNH, scaling nationally.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520440" cy="54864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  <a:latin typeface="Segoe U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Now - Month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Prove It at UNH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9067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Launch to UNH student body
Target: 200 premium users
1 university contract
Collect NPS + testimonials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920240"/>
            <a:ext cx="352044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993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  <a:latin typeface="Segoe U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Month 6 - 18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Regional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09067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Pitch 10 CT/NY universities
Campus ambassador program
Target: 500 users
3 university contracts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920240"/>
            <a:ext cx="352044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993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Month 18 - Year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National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09067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App store listing
'Built by students' PR push
Target: 1,200 users
8+ university contracts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394960"/>
            <a:ext cx="11430000" cy="91440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39496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68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Segoe UI"/>
              </a:rPr>
              <a:t>Pricing Rationale: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468112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$4.99/mo premium — anchored below Spotify Student ($5.99), above 'too cheap to trust'.  University licenses at $2,000-$5,000/yr priced at &lt;10% of typical EdTech contract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9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CREATING VALUE  |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Value Proposition &amp; Stakeholder 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3657600" cy="64008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1600200"/>
            <a:ext cx="685800" cy="685800"/>
          </a:xfrm>
          <a:prstGeom prst="ellipse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C9FF"/>
                </a:solidFill>
                <a:latin typeface="Segoe UI"/>
              </a:rPr>
              <a:t>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44368"/>
            <a:ext cx="731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One app replaces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19856"/>
            <a:ext cx="731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Zero manual data entry via Canvas 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95344"/>
            <a:ext cx="731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Creature system creates emotional 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70832"/>
            <a:ext cx="731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428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Course-specific deadlines with urgency flags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46320"/>
            <a:ext cx="731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183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Fully customizable aesthetic — it feels personal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21807"/>
            <a:ext cx="731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937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Free tier eliminates adoption barrier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15087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1508760"/>
            <a:ext cx="36576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42432" y="1600200"/>
            <a:ext cx="685800" cy="685800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FF"/>
                </a:solidFill>
                <a:latin typeface="Segoe UI"/>
              </a:rPr>
              <a:t>UNIVERSITIES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944368"/>
            <a:ext cx="731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2816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Student retention tool — reduce dropout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419856"/>
            <a:ext cx="731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3291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No IT overhead — web app, zero install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895344"/>
            <a:ext cx="731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3767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Supports Title IV reporting &amp; success metrics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370832"/>
            <a:ext cx="731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2428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Differentiator in student recruitment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4846320"/>
            <a:ext cx="731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47183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Data on engagement patterns (aggregate/anon)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5321807"/>
            <a:ext cx="731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51937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Partners in a growing EdTech ecosystem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4" y="15087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1508760"/>
            <a:ext cx="3657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56064" y="1600200"/>
            <a:ext cx="685800" cy="6858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0184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Segoe UI"/>
              </a:rPr>
              <a:t>SOCIETY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2944368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58784" y="2816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Addresses 44% depression rate in students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94192" y="3419856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58784" y="32918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Democratizes academic org. 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94192" y="3895344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8784" y="3767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Supports first-gen students w/o coaches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94192" y="4370832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58784" y="42428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Built by students — authentic EdTech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4192" y="4846320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58784" y="47183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Reduces academic burnout system-wide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94192" y="5321807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58784" y="51937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Scales social impact with zero marginal cost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" y="594360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5943600"/>
            <a:ext cx="54864" cy="6858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Segoe UI"/>
              </a:rPr>
              <a:t>"StudiBudd creates academic momentum for students, measurable retention metrics for universities, and a less anxious generation of graduates for society."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BEC5"/>
                </a:solidFill>
                <a:latin typeface="Segoe UI"/>
              </a:rPr>
              <a:t>Sources: 44% depression stat — ACHA-NCHA Spring 2023 (N=54,497)  |  Title IV retention metrics — IPEDS Graduation Rate Survey 2023  |  First-gen students — NCES 2023 First-Generation Student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CREATING VALUE  |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Risk, Sustainability &amp; External Factors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7772400" cy="34747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777240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C5C"/>
                </a:solidFill>
                <a:latin typeface="Segoe UI"/>
              </a:rPr>
              <a:t>Risk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C9FF"/>
                </a:solidFill>
                <a:latin typeface="Segoe UI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38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C9FF"/>
                </a:solidFill>
                <a:latin typeface="Segoe UI"/>
              </a:rPr>
              <a:t>Prob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938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C9FF"/>
                </a:solidFill>
                <a:latin typeface="Segoe UI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9385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C9FF"/>
                </a:solidFill>
                <a:latin typeface="Segoe UI"/>
              </a:rPr>
              <a:t>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Low user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28600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8600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5C"/>
                </a:solidFill>
                <a:latin typeface="Segoe U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2860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Segoe UI"/>
              </a:rPr>
              <a:t>Campus ambassadors + professor endorsements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706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Canvas API policy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77063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77063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5C"/>
                </a:solidFill>
                <a:latin typeface="Segoe U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77063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Segoe UI"/>
              </a:rPr>
              <a:t>Abstraction layer; monitor Instructure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552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Competitor copies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25526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5C"/>
                </a:solidFill>
                <a:latin typeface="Segoe UI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25526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2552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Segoe UI"/>
              </a:rPr>
              <a:t>First-mover brand + creature emotional attachment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3989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FERPA / data privacy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73989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egoe UI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73989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C5C"/>
                </a:solidFill>
                <a:latin typeface="Segoe UI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73989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Segoe UI"/>
              </a:rPr>
              <a:t>No PII stored; Canvas OAuth only; privacy-by-design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2452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Semester churn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22452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22452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2245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  <a:latin typeface="Segoe UI"/>
              </a:rPr>
              <a:t>Creature evolution tied to new courses each term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1508760"/>
            <a:ext cx="3520440" cy="16459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1508760"/>
            <a:ext cx="35204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1572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egoe UI"/>
              </a:rPr>
              <a:t>TAILWINDS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+ EdTech market +12% CAGR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+ Canvas at 40M+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523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+ Post-COVID digital habits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825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+ University retention pressure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291840"/>
            <a:ext cx="3520440" cy="169164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21040" y="3291840"/>
            <a:ext cx="3520440" cy="457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3355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5C"/>
                </a:solidFill>
                <a:latin typeface="Segoe UI"/>
              </a:rPr>
              <a:t>HEADWINDS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- App fatigue among Gen 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- University budget freezes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306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- Free competitors (Notion)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608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- Student loan crisis / spend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120640"/>
            <a:ext cx="11430000" cy="118872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5120640"/>
            <a:ext cx="114300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184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Segoe UI"/>
              </a:rPr>
              <a:t>Sustainability Metrics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LTV / CAC Ratio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33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C9FF"/>
                </a:solidFill>
                <a:latin typeface="Segoe UI"/>
              </a:rPr>
              <a:t>36 :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Marginal cost per new user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5833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Segoe UI"/>
              </a:rPr>
              <a:t>~$0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Gross Margin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5833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Segoe UI"/>
              </a:rPr>
              <a:t>&gt;90%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  <a:latin typeface="Segoe UI"/>
              </a:rPr>
              <a:t>Network effect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5833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FF"/>
                </a:solidFill>
                <a:latin typeface="Segoe UI"/>
              </a:rPr>
              <a:t>Yes - scales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3276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BEC5"/>
                </a:solidFill>
                <a:latin typeface="Segoe UI"/>
              </a:rPr>
              <a:t>Sources: EdTech CAGR — Grand View Research 2024  |  Canvas growth — Instructure 2023 Annual Report  |  LTV/CAC calc: LTV=$4.99x12x3=$179.64; CAC est. $5 (word-of-mouth; cf. Duolingo S-1 $3.20 CAC)  |  Gross margin: hosting $45/mo vs. unlimited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Segoe UI"/>
              </a:rP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228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CONNECTIONS  |  SUPPLEMENTAL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Competitive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BEC5"/>
                </a:solidFill>
                <a:latin typeface="Segoe UI"/>
              </a:rPr>
              <a:t>StudiBudd is the only tool combining Canvas sync + gamification + student-first 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11457432" cy="274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256032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92024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EC5"/>
                </a:solidFill>
                <a:latin typeface="Segoe UI"/>
              </a:rPr>
              <a:t>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874519"/>
            <a:ext cx="1508760" cy="384048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19202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C9FF"/>
                </a:solidFill>
                <a:latin typeface="Segoe UI"/>
              </a:rPr>
              <a:t>StudiBudd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15087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202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EC5"/>
                </a:solidFill>
                <a:latin typeface="Segoe UI"/>
              </a:rPr>
              <a:t>Notion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79" y="1874519"/>
            <a:ext cx="15087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1" y="19202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EC5"/>
                </a:solidFill>
                <a:latin typeface="Segoe UI"/>
              </a:rPr>
              <a:t>MyStudyLife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874519"/>
            <a:ext cx="15087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19202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EC5"/>
                </a:solidFill>
                <a:latin typeface="Segoe UI"/>
              </a:rPr>
              <a:t>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874519"/>
            <a:ext cx="15087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19202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EC5"/>
                </a:solidFill>
                <a:latin typeface="Segoe UI"/>
              </a:rPr>
              <a:t>Google 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1874519"/>
            <a:ext cx="15087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7312" y="19202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BEC5"/>
                </a:solidFill>
                <a:latin typeface="Segoe UI"/>
              </a:rPr>
              <a:t>Canvas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31720"/>
            <a:ext cx="256032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386584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Built for students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2331720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53512" y="238658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331720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238658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79" y="2331720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1" y="238658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331720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238658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2331720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238658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2331720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97312" y="2386584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862072"/>
            <a:ext cx="256032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2916936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Canvas LMS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2862072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53512" y="29169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862072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29169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79" y="2862072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71031" y="29169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2862072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29169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2862072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2" y="29169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2862072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97312" y="2916936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Segoe UI"/>
              </a:rP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392424"/>
            <a:ext cx="256032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3447288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Gamification / motivation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0360" y="3392424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53512" y="344728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392424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62272" y="344728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97879" y="3392424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71031" y="344728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3392424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9792" y="344728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15400" y="3392424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344728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24160" y="3392424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97312" y="3447288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922775"/>
            <a:ext cx="256032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" y="3977639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Assignment auto-import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360" y="3922775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53512" y="3977639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3922775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62272" y="3977639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97879" y="3922775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71031" y="3977639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06640" y="3922775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79792" y="3977639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15400" y="3922775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3977639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24160" y="3922775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97312" y="3977639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Segoe UI"/>
              </a:rPr>
              <a:t>N/A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4453127"/>
            <a:ext cx="256032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3192" y="4507991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Course-specific organization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880360" y="4453127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53512" y="4507991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89120" y="4453127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62272" y="4507991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97879" y="4453127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71031" y="4507991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06640" y="4453127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79792" y="4507991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15400" y="4453127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4507991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24160" y="4453127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497312" y="4507991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4983479"/>
            <a:ext cx="256032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3192" y="5038343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Customizable aesthetics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80360" y="4983479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53512" y="5038343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89120" y="4983479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62272" y="5038343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897879" y="4983479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71031" y="5038343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06640" y="4983479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79792" y="5038343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15400" y="4983479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5038343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24160" y="4983479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97312" y="5038343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5C5C"/>
                </a:solidFill>
                <a:latin typeface="Segoe UI"/>
              </a:rPr>
              <a:t>NO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5513831"/>
            <a:ext cx="256032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3192" y="5568695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Free tier available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80360" y="5513831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953512" y="5568695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389120" y="5513831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62272" y="5568695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97879" y="5513831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971031" y="5568695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06640" y="5513831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79792" y="5568695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15400" y="5513831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8552" y="5568695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  <a:latin typeface="Segoe UI"/>
              </a:rPr>
              <a:t>YES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424160" y="5513831"/>
            <a:ext cx="150876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497312" y="5568695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Segoe UI"/>
              </a:rPr>
              <a:t>N/A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6044183"/>
            <a:ext cx="256032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93192" y="6099047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Price (premium)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880360" y="6044183"/>
            <a:ext cx="1508760" cy="457200"/>
          </a:xfrm>
          <a:prstGeom prst="rect">
            <a:avLst/>
          </a:prstGeom>
          <a:solidFill>
            <a:srgbClr val="0D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953512" y="6099047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C9FF"/>
                </a:solidFill>
                <a:latin typeface="Segoe UI"/>
              </a:rPr>
              <a:t>$4.99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389120" y="6044183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62272" y="6099047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$10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897879" y="6044183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71031" y="6099047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06640" y="6044183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479792" y="6099047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$3.99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915400" y="6044183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988552" y="6099047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424160" y="6044183"/>
            <a:ext cx="1508760" cy="457200"/>
          </a:xfrm>
          <a:prstGeom prst="rect">
            <a:avLst/>
          </a:prstGeom>
          <a:solidFill>
            <a:srgbClr val="13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497312" y="6099047"/>
            <a:ext cx="13990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N/A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2004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BEC5"/>
                </a:solidFill>
                <a:latin typeface="Segoe UI"/>
              </a:rPr>
              <a:t>StudiBudd's Moat: Only tool at the intersection of Canvas sync + gamification + student-first design.  |  Pricing sources: Notion $10/mo (notion.so), Forest $3.99 (App Store), Google Calendar (free), MyStudyLife (free)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4343400"/>
            <a:ext cx="3200400" cy="3200400"/>
          </a:xfrm>
          <a:prstGeom prst="ellipse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29800" y="4800600"/>
            <a:ext cx="2286000" cy="2286000"/>
          </a:xfrm>
          <a:prstGeom prst="ellipse">
            <a:avLst/>
          </a:prstGeom>
          <a:solidFill>
            <a:srgbClr val="16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87000" y="5257800"/>
            <a:ext cx="1371600" cy="1371600"/>
          </a:xfrm>
          <a:prstGeom prst="ellipse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C9FF"/>
                </a:solidFill>
                <a:latin typeface="Segoe UI"/>
              </a:rPr>
              <a:t>The Investment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"/>
              </a:rPr>
              <a:t>StudiBudd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486400" cy="54864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C9FF"/>
                </a:solidFill>
                <a:latin typeface="Segoe UI"/>
              </a:rPr>
              <a:t>$91,845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NPV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C9FF"/>
                </a:solidFill>
                <a:latin typeface="Segoe UI"/>
              </a:rPr>
              <a:t>254%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IRR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C9FF"/>
                </a:solidFill>
                <a:latin typeface="Segoe UI"/>
              </a:rPr>
              <a:t>~10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C9FF"/>
                </a:solidFill>
                <a:latin typeface="Segoe UI"/>
              </a:rPr>
              <a:t>36:1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Segoe UI"/>
              </a:rPr>
              <a:t>LTV:CAC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5486400" cy="274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56432"/>
            <a:ext cx="109728" cy="2560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20M underserved students in a $5.2B market — no dominant player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109728" cy="2560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6791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Fully built &amp; deployed — not a concept, not a mockup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34256"/>
            <a:ext cx="109728" cy="2560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0682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Canvas integration live — our structural competitive moat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73168"/>
            <a:ext cx="109728" cy="2560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4573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University-led go-to-market — low CAC, high credibility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79"/>
            <a:ext cx="109728" cy="256032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846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Profitable by Year 1, NPV-positive at conservative projections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645920"/>
            <a:ext cx="4114800" cy="3200400"/>
          </a:xfrm>
          <a:prstGeom prst="roundRect">
            <a:avLst>
              <a:gd name="adj" fmla="val 5000"/>
            </a:avLst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645920"/>
            <a:ext cx="4114800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7190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FF"/>
                </a:solidFill>
                <a:latin typeface="Segoe UI"/>
              </a:rPr>
              <a:t>Our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176272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$10,000 seed investment
to fund Year 1 marketing
&amp; university outreach
— OR —
Faculty / administration
endorsement to launch
at UNH this semester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6035040"/>
            <a:ext cx="11521440" cy="640080"/>
          </a:xfrm>
          <a:prstGeom prst="roundRect">
            <a:avLst>
              <a:gd name="adj" fmla="val 5000"/>
            </a:avLst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603504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447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700"/>
                </a:solidFill>
                <a:latin typeface="Segoe UI"/>
              </a:rPr>
              <a:t>Our Unfair Advantage:  "We are the customer. We built the tool we needed. No outside firm can manufacture that authenticity."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